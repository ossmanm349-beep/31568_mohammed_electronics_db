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ar-S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A132E-A946-BD97-E2BB-9B988B2BD8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ar-S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74454E-861F-F76F-2A38-CD8E9B0746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ar-S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7D542A-80CD-A1C9-1EF4-52240FB91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CC640-1728-45B3-B4DB-E1A7E7BEF2C7}" type="datetimeFigureOut">
              <a:rPr lang="ar-SA" smtClean="0"/>
              <a:t>25/01/1448</a:t>
            </a:fld>
            <a:endParaRPr lang="ar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B2ACCC-9E11-75D2-E3F6-0B776AFE4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8E4B45-697F-9142-AECB-EC1FF2FED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45884-74B3-4A40-8C65-79EB508741E0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326486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B0FD2-E5EE-9C87-3BA5-0BF3D49FC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ar-S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0C6BF4-5AA1-8895-D10F-C06016E33B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ar-S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614217-930B-BB7E-E6DB-D00576451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CC640-1728-45B3-B4DB-E1A7E7BEF2C7}" type="datetimeFigureOut">
              <a:rPr lang="ar-SA" smtClean="0"/>
              <a:t>25/01/1448</a:t>
            </a:fld>
            <a:endParaRPr lang="ar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67C09E-0F4B-62B5-A771-CEBE8B349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31D480-54E0-F37E-0B14-64C5C42DB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45884-74B3-4A40-8C65-79EB508741E0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131002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9DDFA-595E-5429-6307-53E3D6231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ar-S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B22CDC-A19F-70DB-9128-4B72341CE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EC0B12-AC25-C26C-D9C5-A8094AC54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CC640-1728-45B3-B4DB-E1A7E7BEF2C7}" type="datetimeFigureOut">
              <a:rPr lang="ar-SA" smtClean="0"/>
              <a:t>25/01/1448</a:t>
            </a:fld>
            <a:endParaRPr lang="ar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CBCF46-7E22-97AE-574E-48845E43D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BEA7FF-70EB-0CDE-8079-EC1752F2F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45884-74B3-4A40-8C65-79EB508741E0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812080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0B4A6-9F27-BC74-360F-37BA36D88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ar-S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BC8DE9-8CF9-3F33-1096-A60851856D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ar-S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9C6FA7-5387-50C5-59A3-4E80CDB29F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ar-S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2CBE39-6F7E-B445-8640-DBA5B1B29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CC640-1728-45B3-B4DB-E1A7E7BEF2C7}" type="datetimeFigureOut">
              <a:rPr lang="ar-SA" smtClean="0"/>
              <a:t>25/01/1448</a:t>
            </a:fld>
            <a:endParaRPr lang="ar-S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D0A867-467B-EABF-53C6-A750A30CE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A4FAA8-916C-4AF5-5A55-F82FBE2DB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45884-74B3-4A40-8C65-79EB508741E0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046056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96D9C-FDAE-C294-EC67-9E9CA61DD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ar-S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05FB2-509A-E1F2-1213-75ABBE06F8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87425D-D7E2-B4FA-66E4-15692D2B38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ar-S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BD8B9E-1921-7EA0-2068-CC0A55B15E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6BA22D-66F8-ADD7-C5EF-0695B3BDB0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ar-S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BAF46E-F68B-8479-A136-49181648F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CC640-1728-45B3-B4DB-E1A7E7BEF2C7}" type="datetimeFigureOut">
              <a:rPr lang="ar-SA" smtClean="0"/>
              <a:t>25/01/1448</a:t>
            </a:fld>
            <a:endParaRPr lang="ar-S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60196D-27C9-7872-51D5-5CEAC47BD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DBFB15-93DD-79D2-A54A-F68686291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45884-74B3-4A40-8C65-79EB508741E0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715073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5C065-866F-10AD-D155-4A2CF4531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ar-S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4E81CF-BC4B-E113-FA1B-5E1224E51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CC640-1728-45B3-B4DB-E1A7E7BEF2C7}" type="datetimeFigureOut">
              <a:rPr lang="ar-SA" smtClean="0"/>
              <a:t>25/01/1448</a:t>
            </a:fld>
            <a:endParaRPr lang="ar-S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2B7BBC-E229-4878-9499-88DB8E865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FCF3CA-277C-AAC6-5C7B-E6A228AB6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45884-74B3-4A40-8C65-79EB508741E0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181406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2E2AA1-C7D7-D012-1E9F-4293DF0EF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CC640-1728-45B3-B4DB-E1A7E7BEF2C7}" type="datetimeFigureOut">
              <a:rPr lang="ar-SA" smtClean="0"/>
              <a:t>25/01/1448</a:t>
            </a:fld>
            <a:endParaRPr lang="ar-S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5F0C61-E201-A76A-70F5-E12816C3A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5CE7B4-77D0-053B-0756-98ED6F508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45884-74B3-4A40-8C65-79EB508741E0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620432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798DF-A1B1-BFFA-7A91-B1D5BDA63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ar-S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14E6D3-1F4F-46B3-7E3D-5523376772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ar-S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B93652-A232-C3DC-70F4-DD8EBBA3CE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F82633-A0F2-2A31-8205-B00373916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CC640-1728-45B3-B4DB-E1A7E7BEF2C7}" type="datetimeFigureOut">
              <a:rPr lang="ar-SA" smtClean="0"/>
              <a:t>25/01/1448</a:t>
            </a:fld>
            <a:endParaRPr lang="ar-S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14AAEB-C019-A6EC-993F-531F56C74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5CC023-EE0B-546C-7B41-922CC5413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45884-74B3-4A40-8C65-79EB508741E0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383773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3C0BE-8BA0-0EBC-1961-03969984A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ar-S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4EFCFB-1878-C571-894E-A0AEB4728E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S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3AA17D-D92F-6052-0577-E1783375CD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80D845-78AD-3837-8823-202482ABB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CC640-1728-45B3-B4DB-E1A7E7BEF2C7}" type="datetimeFigureOut">
              <a:rPr lang="ar-SA" smtClean="0"/>
              <a:t>25/01/1448</a:t>
            </a:fld>
            <a:endParaRPr lang="ar-S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3F49EE-6B8B-D9A1-B74B-687EA8E18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685817-B166-B03E-D2C0-0D4890545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45884-74B3-4A40-8C65-79EB508741E0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022623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50854-6E03-C816-195D-A4559FFF0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ar-S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77B2C2-61F2-D368-3464-C4FA7B3675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ar-S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8C48B7-E00A-BA76-E3D5-EF34ADD01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CC640-1728-45B3-B4DB-E1A7E7BEF2C7}" type="datetimeFigureOut">
              <a:rPr lang="ar-SA" smtClean="0"/>
              <a:t>25/01/1448</a:t>
            </a:fld>
            <a:endParaRPr lang="ar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FFC6A8-83C0-B001-FB97-2B328E71A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309823-3EB5-1173-CC03-901335466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45884-74B3-4A40-8C65-79EB508741E0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285976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7F3C53-26C6-E987-082E-A3074497C1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ar-S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6269D7-A4B9-7694-9848-EDC4BADFCB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ar-S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61534F-4C56-F286-4109-C020BD055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CC640-1728-45B3-B4DB-E1A7E7BEF2C7}" type="datetimeFigureOut">
              <a:rPr lang="ar-SA" smtClean="0"/>
              <a:t>25/01/1448</a:t>
            </a:fld>
            <a:endParaRPr lang="ar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893E4A-653B-491F-9874-9046A2FAB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F16811-70FB-AF89-4AA0-04F07E300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45884-74B3-4A40-8C65-79EB508741E0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2697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3DF855-C971-ED52-2FB8-01CF58FE7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ar-S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44BD36-8A1D-FDA6-4E2A-E29BBA25E5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ar-S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E45A8D-60C9-3DC6-643D-F911FCACCE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BCC640-1728-45B3-B4DB-E1A7E7BEF2C7}" type="datetimeFigureOut">
              <a:rPr lang="ar-SA" smtClean="0"/>
              <a:t>25/01/1448</a:t>
            </a:fld>
            <a:endParaRPr lang="ar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62265-1D87-F4B6-D2EE-C1CA65AFD0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ar-S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DE2D8C-ABBA-B044-030F-CF17174109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445884-74B3-4A40-8C65-79EB508741E0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100471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S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44653-E582-FA17-AF2C-5C2E68D8B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>
                <a:latin typeface="Helactive"/>
              </a:rPr>
              <a:t>Project Title</a:t>
            </a:r>
            <a:r>
              <a:rPr lang="ar-SA" sz="2800" b="1">
                <a:latin typeface="Helactive"/>
              </a:rPr>
              <a:t>: </a:t>
            </a:r>
            <a:r>
              <a:rPr lang="ar-SA" sz="2800">
                <a:latin typeface="Helactive"/>
              </a:rPr>
              <a:t>Electronics Inventory and Sales Management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5D321B-708F-66AD-A2D1-8CC50F3E55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61419"/>
            <a:ext cx="10515600" cy="39155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>
                <a:latin typeface="Helactive"/>
              </a:rPr>
              <a:t>Database code: </a:t>
            </a:r>
            <a:r>
              <a:rPr lang="en-US">
                <a:latin typeface="Helactive"/>
              </a:rPr>
              <a:t>(Mohammed_Electronics_DB_31568)</a:t>
            </a:r>
            <a:endParaRPr lang="ar-SA">
              <a:latin typeface="Helactive"/>
            </a:endParaRPr>
          </a:p>
          <a:p>
            <a:pPr marL="0" indent="0">
              <a:buNone/>
            </a:pPr>
            <a:endParaRPr lang="ar-SA">
              <a:latin typeface="Helactive"/>
            </a:endParaRPr>
          </a:p>
          <a:p>
            <a:pPr marL="0" indent="0">
              <a:buNone/>
            </a:pPr>
            <a:r>
              <a:rPr lang="ar-SA" b="1">
                <a:latin typeface="Helactive"/>
              </a:rPr>
              <a:t>Course Code &amp; Name:</a:t>
            </a:r>
            <a:r>
              <a:rPr lang="ar-SA">
                <a:latin typeface="Helactive"/>
              </a:rPr>
              <a:t> DPR400210 – Database Programming</a:t>
            </a:r>
            <a:endParaRPr lang="en-US">
              <a:latin typeface="Helactive"/>
            </a:endParaRPr>
          </a:p>
          <a:p>
            <a:pPr marL="0" indent="0">
              <a:buNone/>
            </a:pPr>
            <a:endParaRPr lang="en-US">
              <a:latin typeface="Helactive"/>
            </a:endParaRPr>
          </a:p>
          <a:p>
            <a:pPr marL="0" indent="0">
              <a:buNone/>
            </a:pPr>
            <a:r>
              <a:rPr lang="en-US" b="1">
                <a:latin typeface="Helactive"/>
              </a:rPr>
              <a:t>Done by: </a:t>
            </a:r>
            <a:r>
              <a:rPr lang="en-US">
                <a:latin typeface="Helactive"/>
              </a:rPr>
              <a:t>Mohammed_31568/2025</a:t>
            </a:r>
          </a:p>
          <a:p>
            <a:pPr marL="0" indent="0">
              <a:buNone/>
            </a:pPr>
            <a:endParaRPr lang="ar-SA">
              <a:latin typeface="Helactive"/>
            </a:endParaRPr>
          </a:p>
        </p:txBody>
      </p:sp>
    </p:spTree>
    <p:extLst>
      <p:ext uri="{BB962C8B-B14F-4D97-AF65-F5344CB8AC3E}">
        <p14:creationId xmlns:p14="http://schemas.microsoft.com/office/powerpoint/2010/main" val="36522478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541E6-EEFF-74BE-D9ED-361F7E763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ar-SA" sz="3200" b="1">
                <a:latin typeface="Helactive"/>
              </a:rPr>
              <a:t>Project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12D2D7-7326-4645-FE79-056AF6DD70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>
                <a:latin typeface="Helactive"/>
              </a:rPr>
              <a:t> </a:t>
            </a:r>
            <a:r>
              <a:rPr lang="ar-SA" b="1">
                <a:latin typeface="Helactive"/>
              </a:rPr>
              <a:t>Business Concept:</a:t>
            </a:r>
            <a:r>
              <a:rPr lang="ar-SA">
                <a:latin typeface="Helactive"/>
              </a:rPr>
              <a:t> A dedicated database system designed to manage inventory, customers, and sales for an Electronics Stor</a:t>
            </a:r>
            <a:r>
              <a:rPr lang="en-US">
                <a:latin typeface="Helactive"/>
              </a:rPr>
              <a:t>e</a:t>
            </a:r>
          </a:p>
          <a:p>
            <a:pPr marL="0" indent="0">
              <a:buNone/>
            </a:pPr>
            <a:endParaRPr lang="en-US">
              <a:latin typeface="Helactive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ar-SA" b="1">
                <a:latin typeface="Helactive"/>
              </a:rPr>
              <a:t>Objectiv</a:t>
            </a:r>
            <a:r>
              <a:rPr lang="en-US" b="1">
                <a:latin typeface="Helactive"/>
              </a:rPr>
              <a:t>e</a:t>
            </a:r>
            <a:r>
              <a:rPr lang="ar-SA" b="1">
                <a:latin typeface="Helactive"/>
              </a:rPr>
              <a:t>:</a:t>
            </a:r>
            <a:r>
              <a:rPr lang="ar-SA">
                <a:latin typeface="Helactive"/>
              </a:rPr>
              <a:t> To automate sales logging, track financial performance, and secure the system against data entry during unauthorized times</a:t>
            </a:r>
            <a:endParaRPr lang="en-US">
              <a:latin typeface="Helactive"/>
            </a:endParaRPr>
          </a:p>
          <a:p>
            <a:pPr marL="0" indent="0">
              <a:buNone/>
            </a:pPr>
            <a:endParaRPr lang="ar-SA">
              <a:latin typeface="Helactive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ar-SA" b="1">
                <a:latin typeface="Helactive"/>
              </a:rPr>
              <a:t>Key Entities:</a:t>
            </a:r>
            <a:r>
              <a:rPr lang="ar-SA">
                <a:latin typeface="Helactive"/>
              </a:rPr>
              <a:t> Customers, Products, Sales_Orders, and Order_Items</a:t>
            </a:r>
          </a:p>
        </p:txBody>
      </p:sp>
    </p:spTree>
    <p:extLst>
      <p:ext uri="{BB962C8B-B14F-4D97-AF65-F5344CB8AC3E}">
        <p14:creationId xmlns:p14="http://schemas.microsoft.com/office/powerpoint/2010/main" val="11390540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9C55D-D144-F554-0A2F-FA06EAAB4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ar-SA" sz="3200" b="1">
                <a:latin typeface="Helactive"/>
              </a:rPr>
              <a:t>Database Schema &amp; Tables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D8935D-E753-A75A-222B-F50315289F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>
                <a:latin typeface="Helactive"/>
              </a:rPr>
              <a:t>Customers: </a:t>
            </a:r>
            <a:r>
              <a:rPr lang="ar-SA">
                <a:latin typeface="Helactive"/>
              </a:rPr>
              <a:t>Stores customer profiles and their types (VIP or Standard)</a:t>
            </a:r>
            <a:endParaRPr lang="en-US">
              <a:latin typeface="Helactive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b="1">
              <a:latin typeface="Helactive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b="1">
                <a:latin typeface="Helactive"/>
              </a:rPr>
              <a:t>Products: </a:t>
            </a:r>
            <a:r>
              <a:rPr lang="ar-SA">
                <a:latin typeface="Helactive"/>
              </a:rPr>
              <a:t>Contains electronics inventory, stock levels, and prices</a:t>
            </a:r>
            <a:endParaRPr lang="en-US">
              <a:latin typeface="Helactive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b="1">
              <a:latin typeface="Helactive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b="1">
                <a:latin typeface="Helactive"/>
              </a:rPr>
              <a:t>Sales_orders: </a:t>
            </a:r>
            <a:r>
              <a:rPr lang="ar-SA">
                <a:latin typeface="Helactive"/>
              </a:rPr>
              <a:t>Tracks purchase records, dates, and order amounts</a:t>
            </a:r>
            <a:endParaRPr lang="en-US">
              <a:latin typeface="Helactive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b="1">
              <a:latin typeface="Helactive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ar-SA" b="1">
                <a:latin typeface="Helactive"/>
              </a:rPr>
              <a:t>Relationships</a:t>
            </a:r>
            <a:r>
              <a:rPr lang="en-US" b="1">
                <a:latin typeface="Helactive"/>
              </a:rPr>
              <a:t>: </a:t>
            </a:r>
            <a:r>
              <a:rPr lang="ar-SA">
                <a:latin typeface="Helactive"/>
              </a:rPr>
              <a:t>Built using Primary Keys (PK) and Foreign Keys (FK) to enforce data integrity</a:t>
            </a:r>
            <a:endParaRPr lang="ar-SA" b="1">
              <a:latin typeface="Helactive"/>
            </a:endParaRPr>
          </a:p>
        </p:txBody>
      </p:sp>
    </p:spTree>
    <p:extLst>
      <p:ext uri="{BB962C8B-B14F-4D97-AF65-F5344CB8AC3E}">
        <p14:creationId xmlns:p14="http://schemas.microsoft.com/office/powerpoint/2010/main" val="3522733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77FBE-8D0F-1F89-055A-A26DF7A6C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ar-SA" sz="3200" b="1">
                <a:latin typeface="Helactive"/>
              </a:rPr>
              <a:t>Phase V - Audit Log Trigger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A3200A-4E97-4381-ADD3-A7D4BB6BE6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ar-SA" b="1">
                <a:latin typeface="Helactive"/>
              </a:rPr>
              <a:t>Feature:</a:t>
            </a:r>
            <a:r>
              <a:rPr lang="en-US" b="1">
                <a:latin typeface="Helactive"/>
              </a:rPr>
              <a:t> </a:t>
            </a:r>
            <a:r>
              <a:rPr lang="ar-SA">
                <a:latin typeface="Helactive"/>
              </a:rPr>
              <a:t>Automated Data Auditing</a:t>
            </a:r>
            <a:endParaRPr lang="en-US">
              <a:latin typeface="Helactive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b="1">
              <a:latin typeface="Helactive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ar-SA" b="1">
                <a:latin typeface="Helactive"/>
              </a:rPr>
              <a:t>Implementation:</a:t>
            </a:r>
            <a:r>
              <a:rPr lang="en-US" b="1">
                <a:latin typeface="Helactive"/>
              </a:rPr>
              <a:t> </a:t>
            </a:r>
            <a:r>
              <a:rPr lang="ar-SA">
                <a:latin typeface="Helactive"/>
              </a:rPr>
              <a:t>Created an Audit_Log table and a row-level trigger</a:t>
            </a:r>
            <a:r>
              <a:rPr lang="en-US">
                <a:latin typeface="Helactive"/>
              </a:rPr>
              <a:t> </a:t>
            </a:r>
            <a:r>
              <a:rPr lang="ar-SA">
                <a:latin typeface="Helactive"/>
              </a:rPr>
              <a:t>)Audit_Trigger_Creation(</a:t>
            </a:r>
            <a:endParaRPr lang="en-US">
              <a:latin typeface="Helactive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b="1">
              <a:latin typeface="Helactive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ar-SA" b="1">
                <a:latin typeface="Helactive"/>
              </a:rPr>
              <a:t>Functionality  : </a:t>
            </a:r>
            <a:r>
              <a:rPr lang="ar-SA">
                <a:latin typeface="Helactive"/>
              </a:rPr>
              <a:t>Captures user actions (INSERT, UPDATE, DELETE) on sales tables along with time stamps for strict accountabilit</a:t>
            </a:r>
            <a:r>
              <a:rPr lang="en-US">
                <a:latin typeface="Helactive"/>
              </a:rPr>
              <a:t>y</a:t>
            </a:r>
            <a:endParaRPr lang="ar-SA" b="1">
              <a:latin typeface="Helactive"/>
            </a:endParaRPr>
          </a:p>
        </p:txBody>
      </p:sp>
    </p:spTree>
    <p:extLst>
      <p:ext uri="{BB962C8B-B14F-4D97-AF65-F5344CB8AC3E}">
        <p14:creationId xmlns:p14="http://schemas.microsoft.com/office/powerpoint/2010/main" val="4286017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D4900-B847-E3BB-D969-945AFA1F3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ar-SA" sz="3200" b="1">
                <a:latin typeface="Helactive"/>
              </a:rPr>
              <a:t>Phase V - Security Trigger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D0BF6-C583-63CE-C450-8FAAFFD312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ar-SA" b="1">
                <a:latin typeface="Helactive"/>
              </a:rPr>
              <a:t>Feature:</a:t>
            </a:r>
            <a:r>
              <a:rPr lang="en-US">
                <a:latin typeface="Helactive"/>
              </a:rPr>
              <a:t> </a:t>
            </a:r>
            <a:r>
              <a:rPr lang="ar-SA">
                <a:latin typeface="Helactive"/>
              </a:rPr>
              <a:t>System Security and Time Restrictions</a:t>
            </a:r>
            <a:endParaRPr lang="en-US">
              <a:latin typeface="Helactive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>
              <a:latin typeface="Helactive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ar-SA" b="1">
                <a:latin typeface="Helactive"/>
              </a:rPr>
              <a:t>Trigger Name:</a:t>
            </a:r>
            <a:r>
              <a:rPr lang="en-US" b="1">
                <a:latin typeface="Helactive"/>
              </a:rPr>
              <a:t> </a:t>
            </a:r>
            <a:r>
              <a:rPr lang="ar-SA">
                <a:latin typeface="Helactive"/>
              </a:rPr>
              <a:t>Security_Holiday_And_Weekday_Trigger</a:t>
            </a:r>
            <a:endParaRPr lang="en-US">
              <a:latin typeface="Helactive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>
              <a:latin typeface="Helactive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ar-SA" b="1">
                <a:latin typeface="Helactive"/>
              </a:rPr>
              <a:t>Logic:</a:t>
            </a:r>
            <a:r>
              <a:rPr lang="en-US">
                <a:latin typeface="Helactive"/>
              </a:rPr>
              <a:t> </a:t>
            </a:r>
            <a:r>
              <a:rPr lang="ar-SA">
                <a:latin typeface="Helactive"/>
              </a:rPr>
              <a:t>Blocks any database modifications during weekends (Saturday and Sunday) and national holidays</a:t>
            </a:r>
          </a:p>
          <a:p>
            <a:pPr>
              <a:buFont typeface="Wingdings" panose="05000000000000000000" pitchFamily="2" charset="2"/>
              <a:buChar char="Ø"/>
            </a:pPr>
            <a:endParaRPr lang="ar-SA">
              <a:latin typeface="Helactive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ar-SA" b="1">
                <a:latin typeface="Helactive"/>
              </a:rPr>
              <a:t>Result:</a:t>
            </a:r>
            <a:r>
              <a:rPr lang="en-US">
                <a:latin typeface="Helactive"/>
              </a:rPr>
              <a:t> </a:t>
            </a:r>
            <a:r>
              <a:rPr lang="ar-SA">
                <a:latin typeface="Helactive"/>
              </a:rPr>
              <a:t>Raises a customized application error to prevent unauthorized data entry</a:t>
            </a:r>
          </a:p>
        </p:txBody>
      </p:sp>
    </p:spTree>
    <p:extLst>
      <p:ext uri="{BB962C8B-B14F-4D97-AF65-F5344CB8AC3E}">
        <p14:creationId xmlns:p14="http://schemas.microsoft.com/office/powerpoint/2010/main" val="3476490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24D2D-0F63-4905-08BC-F617E3890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ar-SA" sz="3200" b="1">
                <a:latin typeface="Helactive"/>
              </a:rPr>
              <a:t>Phase VI - Package Specification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BF42D-BA60-708C-D6BB-6E472A5750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ar-SA" b="1">
                <a:latin typeface="Helactive"/>
              </a:rPr>
              <a:t>Object Name:</a:t>
            </a:r>
            <a:r>
              <a:rPr lang="en-US" b="1">
                <a:latin typeface="Helactive"/>
              </a:rPr>
              <a:t> </a:t>
            </a:r>
            <a:r>
              <a:rPr lang="ar-SA">
                <a:latin typeface="Helactive"/>
              </a:rPr>
              <a:t>pkg_sales_management (Specification)</a:t>
            </a:r>
            <a:endParaRPr lang="en-US">
              <a:latin typeface="Helactive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b="1">
              <a:latin typeface="Helactive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ar-SA" b="1">
                <a:latin typeface="Helactive"/>
              </a:rPr>
              <a:t>Encapsulation:</a:t>
            </a:r>
            <a:r>
              <a:rPr lang="en-US" b="1">
                <a:latin typeface="Helactive"/>
              </a:rPr>
              <a:t> </a:t>
            </a:r>
            <a:r>
              <a:rPr lang="ar-SA">
                <a:latin typeface="Helactive"/>
              </a:rPr>
              <a:t>Groups related business logic into a single database object</a:t>
            </a:r>
            <a:endParaRPr lang="en-US">
              <a:latin typeface="Helactive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b="1">
              <a:latin typeface="Helactive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ar-SA" b="1">
                <a:latin typeface="Helactive"/>
              </a:rPr>
              <a:t>Components Defined</a:t>
            </a:r>
            <a:r>
              <a:rPr lang="en-US" b="1">
                <a:latin typeface="Helactive"/>
              </a:rPr>
              <a:t>: </a:t>
            </a:r>
            <a:r>
              <a:rPr lang="ar-SA">
                <a:latin typeface="Helactive"/>
              </a:rPr>
              <a:t>calculate_discount (Function)</a:t>
            </a:r>
            <a:r>
              <a:rPr lang="en-US">
                <a:latin typeface="Helactive"/>
              </a:rPr>
              <a:t> </a:t>
            </a:r>
            <a:r>
              <a:rPr lang="ar-SA">
                <a:latin typeface="Helactive"/>
              </a:rPr>
              <a:t>display_sales_report (Procedure)</a:t>
            </a:r>
            <a:endParaRPr lang="en-US">
              <a:latin typeface="Helactive"/>
            </a:endParaRPr>
          </a:p>
        </p:txBody>
      </p:sp>
    </p:spTree>
    <p:extLst>
      <p:ext uri="{BB962C8B-B14F-4D97-AF65-F5344CB8AC3E}">
        <p14:creationId xmlns:p14="http://schemas.microsoft.com/office/powerpoint/2010/main" val="9549733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1EAC3-7B30-7890-627D-9F6EA12E1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ar-SA" sz="2800" b="1">
                <a:latin typeface="Helactive"/>
              </a:rPr>
              <a:t>Phase VI - Package Body - Part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05A3B-BD36-2E06-5B77-DF488A643C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ar-SA" b="1">
                <a:latin typeface="Helactive"/>
              </a:rPr>
              <a:t>Component:</a:t>
            </a:r>
            <a:r>
              <a:rPr lang="en-US" b="1">
                <a:latin typeface="Helactive"/>
              </a:rPr>
              <a:t> </a:t>
            </a:r>
            <a:r>
              <a:rPr lang="ar-SA">
                <a:latin typeface="Helactive"/>
              </a:rPr>
              <a:t>calculate_discount</a:t>
            </a:r>
            <a:endParaRPr lang="en-US">
              <a:latin typeface="Helactive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b="1">
              <a:latin typeface="Helactive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ar-SA" b="1">
                <a:latin typeface="Helactive"/>
              </a:rPr>
              <a:t>Business Rule</a:t>
            </a:r>
            <a:r>
              <a:rPr lang="en-US" b="1">
                <a:latin typeface="Helactive"/>
              </a:rPr>
              <a:t>:</a:t>
            </a:r>
            <a:endParaRPr lang="ar-SA" b="1">
              <a:latin typeface="Helactive"/>
            </a:endParaRPr>
          </a:p>
          <a:p>
            <a:pPr marL="0" indent="0">
              <a:buNone/>
            </a:pPr>
            <a:r>
              <a:rPr lang="en-US" b="1">
                <a:latin typeface="Helactive"/>
              </a:rPr>
              <a:t> </a:t>
            </a:r>
            <a:r>
              <a:rPr lang="ar-SA">
                <a:latin typeface="Helactive"/>
              </a:rPr>
              <a:t>If Customer Type is 'VIP' $\rightarrow$ Apply 10% Discount</a:t>
            </a:r>
            <a:endParaRPr lang="ar-SA" b="1">
              <a:latin typeface="Helactive"/>
            </a:endParaRPr>
          </a:p>
          <a:p>
            <a:pPr marL="0" indent="0">
              <a:buNone/>
            </a:pPr>
            <a:r>
              <a:rPr lang="ar-SA" b="1">
                <a:latin typeface="Helactive"/>
              </a:rPr>
              <a:t> </a:t>
            </a:r>
            <a:r>
              <a:rPr lang="ar-SA">
                <a:latin typeface="Helactive"/>
              </a:rPr>
              <a:t>If Customer Type is 'Standard' $\rightarrow$ Apply 2% Discount</a:t>
            </a:r>
            <a:r>
              <a:rPr lang="ar-SA" b="1">
                <a:latin typeface="Helactive"/>
              </a:rPr>
              <a:t>  </a:t>
            </a:r>
          </a:p>
          <a:p>
            <a:pPr marL="0" indent="0">
              <a:buNone/>
            </a:pPr>
            <a:endParaRPr lang="en-US" b="1">
              <a:latin typeface="Helactive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b="1">
                <a:latin typeface="Helactive"/>
              </a:rPr>
              <a:t> </a:t>
            </a:r>
            <a:r>
              <a:rPr lang="ar-SA" b="1">
                <a:latin typeface="Helactive"/>
              </a:rPr>
              <a:t>Exception Handling</a:t>
            </a:r>
            <a:r>
              <a:rPr lang="en-US" b="1">
                <a:latin typeface="Helactive"/>
              </a:rPr>
              <a:t>: </a:t>
            </a:r>
            <a:r>
              <a:rPr lang="ar-SA">
                <a:latin typeface="Helactive"/>
              </a:rPr>
              <a:t>Includes WHEN OTHERS THEN to ensure zero runtime crashes</a:t>
            </a:r>
            <a:endParaRPr lang="ar-SA" b="1">
              <a:latin typeface="Helactive"/>
            </a:endParaRPr>
          </a:p>
        </p:txBody>
      </p:sp>
    </p:spTree>
    <p:extLst>
      <p:ext uri="{BB962C8B-B14F-4D97-AF65-F5344CB8AC3E}">
        <p14:creationId xmlns:p14="http://schemas.microsoft.com/office/powerpoint/2010/main" val="3788268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87EDD-4AD3-022A-7951-AC3438943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ar-SA" sz="2800" b="1">
                <a:latin typeface="Helactive"/>
              </a:rPr>
              <a:t>Cursor (Phase VI - Package Body - Part 2</a:t>
            </a:r>
            <a:r>
              <a:rPr lang="en-US" sz="2800" b="1">
                <a:latin typeface="Helactive"/>
              </a:rPr>
              <a:t>)</a:t>
            </a:r>
            <a:endParaRPr lang="ar-SA" sz="2800" b="1">
              <a:latin typeface="Helactive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4986E-E382-CBBF-CAB4-2A775133B3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ar-SA" b="1">
                <a:latin typeface="Helactive"/>
              </a:rPr>
              <a:t>Component:</a:t>
            </a:r>
            <a:r>
              <a:rPr lang="en-US" b="1">
                <a:latin typeface="Helactive"/>
              </a:rPr>
              <a:t> </a:t>
            </a:r>
            <a:r>
              <a:rPr lang="ar-SA">
                <a:latin typeface="Helactive"/>
              </a:rPr>
              <a:t>display_sales_report Procedure</a:t>
            </a:r>
            <a:endParaRPr lang="en-US">
              <a:latin typeface="Helactive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b="1">
              <a:latin typeface="Helactive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ar-SA" b="1">
                <a:latin typeface="Helactive"/>
              </a:rPr>
              <a:t>Technical Requirement:</a:t>
            </a:r>
            <a:r>
              <a:rPr lang="en-US" b="1">
                <a:latin typeface="Helactive"/>
              </a:rPr>
              <a:t> </a:t>
            </a:r>
            <a:r>
              <a:rPr lang="ar-SA">
                <a:latin typeface="Helactive"/>
              </a:rPr>
              <a:t>Explicit Cursor implementation</a:t>
            </a:r>
            <a:endParaRPr lang="en-US">
              <a:latin typeface="Helactive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b="1">
              <a:latin typeface="Helactive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ar-SA" b="1">
                <a:latin typeface="Helactive"/>
              </a:rPr>
              <a:t>Logic:</a:t>
            </a:r>
            <a:r>
              <a:rPr lang="en-US" b="1">
                <a:latin typeface="Helactive"/>
              </a:rPr>
              <a:t> </a:t>
            </a:r>
            <a:r>
              <a:rPr lang="ar-SA">
                <a:latin typeface="Helactive"/>
              </a:rPr>
              <a:t>Uses a cursor (c_orders) to fetch rows from Sales_Orders, loops through them, and prints active order details using DBMS_OUTPUT</a:t>
            </a:r>
          </a:p>
          <a:p>
            <a:pPr marL="0" indent="0">
              <a:buNone/>
            </a:pPr>
            <a:endParaRPr lang="ar-SA" b="1">
              <a:latin typeface="Helactive"/>
            </a:endParaRPr>
          </a:p>
        </p:txBody>
      </p:sp>
    </p:spTree>
    <p:extLst>
      <p:ext uri="{BB962C8B-B14F-4D97-AF65-F5344CB8AC3E}">
        <p14:creationId xmlns:p14="http://schemas.microsoft.com/office/powerpoint/2010/main" val="9599994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2596F992-698C-48C0-9D89-70DA4CE92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0ED8A3-0328-E0EB-C4E9-18CF53220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984" y="4029389"/>
            <a:ext cx="2868761" cy="2000869"/>
          </a:xfrm>
        </p:spPr>
        <p:txBody>
          <a:bodyPr anchor="t">
            <a:normAutofit/>
          </a:bodyPr>
          <a:lstStyle/>
          <a:p>
            <a:pPr algn="r"/>
            <a:r>
              <a:rPr lang="ar-SA" sz="3200" b="1">
                <a:latin typeface="Helactive"/>
              </a:rPr>
              <a:t>Phase VII - Innovation Component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DFF905F-D57F-B4D3-3B62-E229F3188B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592" y="411982"/>
            <a:ext cx="11139778" cy="2302320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FC1DE27-C08F-28F1-080B-46ECF2BDB0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28905" y="2873829"/>
            <a:ext cx="7552778" cy="3436535"/>
          </a:xfrm>
        </p:spPr>
        <p:txBody>
          <a:bodyPr anchor="t"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ar-SA" b="1">
                <a:latin typeface="Helactive"/>
              </a:rPr>
              <a:t>Innovation:</a:t>
            </a:r>
            <a:r>
              <a:rPr lang="en-US" b="1">
                <a:latin typeface="Helactive"/>
              </a:rPr>
              <a:t> </a:t>
            </a:r>
            <a:r>
              <a:rPr lang="ar-SA">
                <a:latin typeface="Helactive"/>
              </a:rPr>
              <a:t>Integrated the Oracle Database with an Excel Analytics Dashboard</a:t>
            </a:r>
            <a:endParaRPr lang="en-US">
              <a:latin typeface="Helactive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ar-SA" b="1">
                <a:latin typeface="Helactive"/>
              </a:rPr>
              <a:t>Application:</a:t>
            </a:r>
            <a:r>
              <a:rPr lang="en-US" b="1">
                <a:latin typeface="Helactive"/>
              </a:rPr>
              <a:t> </a:t>
            </a:r>
            <a:r>
              <a:rPr lang="ar-SA">
                <a:latin typeface="Helactive"/>
              </a:rPr>
              <a:t>Exported the Sales_Orders data to test and visualize business perform</a:t>
            </a:r>
            <a:endParaRPr lang="en-US">
              <a:latin typeface="Helactive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ar-SA" b="1">
                <a:latin typeface="Helactive"/>
              </a:rPr>
              <a:t>Validation:</a:t>
            </a:r>
            <a:r>
              <a:rPr lang="en-US" b="1">
                <a:latin typeface="Helactive"/>
              </a:rPr>
              <a:t> </a:t>
            </a:r>
            <a:r>
              <a:rPr lang="ar-SA">
                <a:latin typeface="Helactive"/>
              </a:rPr>
              <a:t>Verified the PL/SQL discount logic )</a:t>
            </a:r>
            <a:r>
              <a:rPr lang="en-US">
                <a:latin typeface="Helactive"/>
              </a:rPr>
              <a:t>10% for vip, 2% for standard) displaying a total revenue of $5,260.00 and total discounts of $409,20</a:t>
            </a:r>
            <a:endParaRPr lang="en-US" b="1">
              <a:latin typeface="Helactive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7BFF8DC-0AE7-4AD2-9B28-2E5F26D62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E0162AD-C6E5-4BF8-A453-76ADB3687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300" y="6406115"/>
            <a:ext cx="4076698" cy="464399"/>
          </a:xfrm>
          <a:prstGeom prst="rect">
            <a:avLst/>
          </a:prstGeom>
          <a:gradFill>
            <a:gsLst>
              <a:gs pos="19000">
                <a:srgbClr val="000000">
                  <a:alpha val="31000"/>
                </a:srgbClr>
              </a:gs>
              <a:gs pos="99000">
                <a:schemeClr val="accent1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97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F3C08-70E3-C2B9-A1F0-5647385F5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ar-SA" sz="3200" b="1">
                <a:latin typeface="Helactive"/>
              </a:rPr>
              <a:t>Phase VIII - Conclusion &amp; Repository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E76332-BE6C-486B-0B7E-B5700EF36C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ar-SA" b="1">
                <a:latin typeface="Helactive"/>
              </a:rPr>
              <a:t>Conclusion:</a:t>
            </a:r>
            <a:r>
              <a:rPr lang="en-US" b="1">
                <a:latin typeface="Helactive"/>
              </a:rPr>
              <a:t> </a:t>
            </a:r>
            <a:r>
              <a:rPr lang="ar-SA">
                <a:latin typeface="Helactive"/>
              </a:rPr>
              <a:t>The database effectively automates and secures operations for an electronics retail business</a:t>
            </a:r>
            <a:endParaRPr lang="en-US">
              <a:latin typeface="Helactive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b="1">
              <a:latin typeface="Helactive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ar-SA" b="1">
                <a:latin typeface="Helactive"/>
              </a:rPr>
              <a:t>Deliverables:</a:t>
            </a:r>
            <a:r>
              <a:rPr lang="en-US" b="1">
                <a:latin typeface="Helactive"/>
              </a:rPr>
              <a:t> </a:t>
            </a:r>
            <a:r>
              <a:rPr lang="ar-SA">
                <a:latin typeface="Helactive"/>
              </a:rPr>
              <a:t>All source codes, deployment scripts, and screenshots are successfully tracke</a:t>
            </a:r>
            <a:r>
              <a:rPr lang="en-US">
                <a:latin typeface="Helactive"/>
              </a:rPr>
              <a:t>d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b="1">
              <a:latin typeface="Helactive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ar-SA" b="1">
                <a:latin typeface="Helactive"/>
              </a:rPr>
              <a:t>Project GitHub Repository:</a:t>
            </a:r>
            <a:r>
              <a:rPr lang="en-US" b="1">
                <a:latin typeface="Helactive"/>
              </a:rPr>
              <a:t> </a:t>
            </a:r>
            <a:r>
              <a:rPr lang="en-US">
                <a:latin typeface="Helactive"/>
              </a:rPr>
              <a:t>https://github.com/ossmanm349-beep/31568_Mohammed_Electronics_DB.git</a:t>
            </a:r>
            <a:endParaRPr lang="ar-SA">
              <a:latin typeface="Helactive"/>
            </a:endParaRPr>
          </a:p>
        </p:txBody>
      </p:sp>
    </p:spTree>
    <p:extLst>
      <p:ext uri="{BB962C8B-B14F-4D97-AF65-F5344CB8AC3E}">
        <p14:creationId xmlns:p14="http://schemas.microsoft.com/office/powerpoint/2010/main" val="38299196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538</Words>
  <Application>Microsoft Office PowerPoint</Application>
  <PresentationFormat>Widescreen</PresentationFormat>
  <Paragraphs>64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Helactive</vt:lpstr>
      <vt:lpstr>Wingdings</vt:lpstr>
      <vt:lpstr>Office Theme</vt:lpstr>
      <vt:lpstr>Project Title: Electronics Inventory and Sales Management System</vt:lpstr>
      <vt:lpstr>Project Introduction</vt:lpstr>
      <vt:lpstr>Database Schema &amp; Tables</vt:lpstr>
      <vt:lpstr>Phase V - Audit Log Trigger</vt:lpstr>
      <vt:lpstr>Phase V - Security Trigger</vt:lpstr>
      <vt:lpstr>Phase VI - Package Specification</vt:lpstr>
      <vt:lpstr>Phase VI - Package Body - Part 1</vt:lpstr>
      <vt:lpstr>Cursor (Phase VI - Package Body - Part 2)</vt:lpstr>
      <vt:lpstr>Phase VII - Innovation Component</vt:lpstr>
      <vt:lpstr>Phase VIII - Conclusion &amp; Repository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2</cp:revision>
  <dcterms:created xsi:type="dcterms:W3CDTF">2026-07-10T18:03:05Z</dcterms:created>
  <dcterms:modified xsi:type="dcterms:W3CDTF">2026-07-10T20:20:36Z</dcterms:modified>
</cp:coreProperties>
</file>